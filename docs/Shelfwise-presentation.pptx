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1bc3bcf0-d397-56ea-cc9f-a4ee98585229}">
          <p14:sldIdLst>
            <p14:sldId id="256"/>
          </p14:sldIdLst>
        </p14:section>
        <p14:section name="Application" id="{0fd53af5-8c9c-bed1-58a3-a2388e7acfbb}">
          <p14:sldIdLst>
            <p14:sldId id="257"/>
          </p14:sldIdLst>
        </p14:section>
        <p14:section name="Delivery" id="{69cd3700-66b2-5443-54cb-1ea2a5286d37}">
          <p14:sldIdLst>
            <p14:sldId id="258"/>
            <p14:sldId id="259"/>
          </p14:sldIdLst>
        </p14:section>
        <p14:section name="Platform" id="{9febde04-8555-78ee-08ee-162870937763}">
          <p14:sldIdLst>
            <p14:sldId id="260"/>
            <p14:sldId id="261"/>
            <p14:sldId id="262"/>
          </p14:sldIdLst>
        </p14:section>
        <p14:section name="Demo" id="{a41259aa-0a05-1143-33c5-2c1904b37373}">
          <p14:sldIdLst>
            <p14:sldId id="263"/>
          </p14:sldIdLst>
        </p14:section>
        <p14:section name="Close" id="{51b1741b-5d42-fc23-346e-cee437181ac0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Shelfwise runs a lending library's front desk: catalogue, members, loans, fines and a fair holds queue. The application is the reason; the point of the project is the path every change takes from my laptop to a monitored Kubernetes cluster.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FastAPI + SQLAlchemy + Alembic with four related tables, React frontend. 25 REST operations. The rules live in one pure module, so the 111 tests can pin any date without mocking the clock.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six stages. Emphasise: tests before images, scan before push, SHA tags for traceability, and GitOps pull instead of CI pushing kubectl commands.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ready to explain a clean scan: it means no known fixable HIGH/CRITICAL issue at build time, not 'secure'.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kubectl get pods,svc,ingress,hpa and helm list live if time allows.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terraform plan / apply / destroy screenshots are in docs/SUBMISSION.md (M7). The cluster only exists for the demo session.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Prometheus scrapes via a ServiceMonitor shipped in the chart; the dashboard is a ConfigMap loaded by Grafana's sidecar.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it live: edit the sidebar subtitle in VS Code, commit, push, narrate the Actions run, watch Argo CD, refresh the browser.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showing the troubleshooting lab if time allows: break the Service selector, find it with endpointslices, fix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TITLE">
    <p:bg>
      <p:bgPr>
        <a:solidFill>
          <a:srgbClr val="1F4D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011680"/>
            <a:ext cx="86868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611880"/>
            <a:ext cx="86868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E8E2D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274"/>
                </a:solidFill>
              </a:rPr>
              <a:t>Shelfwise · DevOps capstone · Aanvi Solanki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2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2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011680"/>
            <a:ext cx="8686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Shelfwise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611880"/>
            <a:ext cx="8686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E8E2D2"/>
                </a:solidFill>
              </a:rPr>
              <a:t>A library circulation platform, shipped like a production service</a:t>
            </a:r>
            <a:endParaRPr lang="en-US" sz="20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C9C1AE"/>
                </a:solidFill>
              </a:rPr>
              <a:t>Aanvi Solanki · Roll no. 24BCS10170 · DevOps capstone (Session 21)</a:t>
            </a:r>
            <a:endParaRPr lang="en-US" sz="2000" dirty="0"/>
          </a:p>
        </p:txBody>
      </p:sp>
      <p:sp>
        <p:nvSpPr>
          <p:cNvPr id="4" name="spine 1"/>
          <p:cNvSpPr/>
          <p:nvPr/>
        </p:nvSpPr>
        <p:spPr>
          <a:xfrm>
            <a:off x="9418320" y="1554480"/>
            <a:ext cx="457200" cy="4206240"/>
          </a:xfrm>
          <a:prstGeom prst="roundRect">
            <a:avLst>
              <a:gd name="adj" fmla="val 10000"/>
            </a:avLst>
          </a:prstGeom>
          <a:solidFill>
            <a:srgbClr val="E2B04A"/>
          </a:solidFill>
          <a:ln w="12700">
            <a:solidFill>
              <a:srgbClr val="E2B04A"/>
            </a:solidFill>
            <a:prstDash val="solid"/>
          </a:ln>
        </p:spPr>
      </p:sp>
      <p:sp>
        <p:nvSpPr>
          <p:cNvPr id="5" name="spine 2"/>
          <p:cNvSpPr/>
          <p:nvPr/>
        </p:nvSpPr>
        <p:spPr>
          <a:xfrm>
            <a:off x="9985248" y="2286000"/>
            <a:ext cx="457200" cy="3474720"/>
          </a:xfrm>
          <a:prstGeom prst="roundRect">
            <a:avLst>
              <a:gd name="adj" fmla="val 10000"/>
            </a:avLst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" name="spine 3"/>
          <p:cNvSpPr/>
          <p:nvPr/>
        </p:nvSpPr>
        <p:spPr>
          <a:xfrm>
            <a:off x="10552176" y="1920240"/>
            <a:ext cx="457200" cy="3840480"/>
          </a:xfrm>
          <a:prstGeom prst="roundRect">
            <a:avLst>
              <a:gd name="adj" fmla="val 10000"/>
            </a:avLst>
          </a:prstGeom>
          <a:solidFill>
            <a:srgbClr val="B4532F"/>
          </a:solidFill>
          <a:ln w="12700">
            <a:solidFill>
              <a:srgbClr val="B4532F"/>
            </a:solidFill>
            <a:prstDash val="solid"/>
          </a:ln>
        </p:spPr>
      </p:sp>
      <p:sp>
        <p:nvSpPr>
          <p:cNvPr id="7" name="spine 4"/>
          <p:cNvSpPr/>
          <p:nvPr/>
        </p:nvSpPr>
        <p:spPr>
          <a:xfrm>
            <a:off x="11119104" y="2651760"/>
            <a:ext cx="457200" cy="3108960"/>
          </a:xfrm>
          <a:prstGeom prst="roundRect">
            <a:avLst>
              <a:gd name="adj" fmla="val 10000"/>
            </a:avLst>
          </a:prstGeom>
          <a:solidFill>
            <a:srgbClr val="2A8A5C"/>
          </a:solidFill>
          <a:ln w="12700">
            <a:solidFill>
              <a:srgbClr val="2A8A5C"/>
            </a:solidFill>
            <a:prstDash val="solid"/>
          </a:ln>
        </p:spPr>
      </p:sp>
      <p:sp>
        <p:nvSpPr>
          <p:cNvPr id="8" name="shelf"/>
          <p:cNvSpPr/>
          <p:nvPr/>
        </p:nvSpPr>
        <p:spPr>
          <a:xfrm>
            <a:off x="9235440" y="5760720"/>
            <a:ext cx="2514600" cy="109728"/>
          </a:xfrm>
          <a:prstGeom prst="rect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A real domain with real rules, not a CRUD demo</a:t>
            </a:r>
            <a:endParaRPr lang="en-US" sz="3400" dirty="0"/>
          </a:p>
        </p:txBody>
      </p:sp>
      <p:sp>
        <p:nvSpPr>
          <p:cNvPr id="3" name="rule 1 icon"/>
          <p:cNvSpPr/>
          <p:nvPr/>
        </p:nvSpPr>
        <p:spPr>
          <a:xfrm>
            <a:off x="548640" y="14630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rule 1 icon label"/>
          <p:cNvSpPr txBox="1"/>
          <p:nvPr/>
        </p:nvSpPr>
        <p:spPr>
          <a:xfrm>
            <a:off x="54864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rule 1 title"/>
          <p:cNvSpPr txBox="1"/>
          <p:nvPr/>
        </p:nvSpPr>
        <p:spPr>
          <a:xfrm>
            <a:off x="1234440" y="141732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Tiered lending</a:t>
            </a:r>
            <a:endParaRPr lang="en-US" sz="2000" dirty="0"/>
          </a:p>
        </p:txBody>
      </p:sp>
      <p:sp>
        <p:nvSpPr>
          <p:cNvPr id="6" name="rule 1 text"/>
          <p:cNvSpPr txBox="1"/>
          <p:nvPr/>
        </p:nvSpPr>
        <p:spPr>
          <a:xfrm>
            <a:off x="1234440" y="1856232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554B"/>
                </a:solidFill>
              </a:rPr>
              <a:t>Students 14 days × 5 books, faculty 28 × 10, public 14 × 3; renewal limits per tier</a:t>
            </a:r>
            <a:endParaRPr lang="en-US" sz="1500" dirty="0"/>
          </a:p>
        </p:txBody>
      </p:sp>
      <p:sp>
        <p:nvSpPr>
          <p:cNvPr id="7" name="rule 2 icon"/>
          <p:cNvSpPr/>
          <p:nvPr/>
        </p:nvSpPr>
        <p:spPr>
          <a:xfrm>
            <a:off x="548640" y="29260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rule 2 icon label"/>
          <p:cNvSpPr txBox="1"/>
          <p:nvPr/>
        </p:nvSpPr>
        <p:spPr>
          <a:xfrm>
            <a:off x="548640" y="2926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rule 2 title"/>
          <p:cNvSpPr txBox="1"/>
          <p:nvPr/>
        </p:nvSpPr>
        <p:spPr>
          <a:xfrm>
            <a:off x="1234440" y="288036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Fines</a:t>
            </a:r>
            <a:endParaRPr lang="en-US" sz="2000" dirty="0"/>
          </a:p>
        </p:txBody>
      </p:sp>
      <p:sp>
        <p:nvSpPr>
          <p:cNvPr id="10" name="rule 2 text"/>
          <p:cNvSpPr txBox="1"/>
          <p:nvPr/>
        </p:nvSpPr>
        <p:spPr>
          <a:xfrm>
            <a:off x="1234440" y="3319272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554B"/>
                </a:solidFill>
              </a:rPr>
              <a:t>Grace period, per-day rate, per-loan cap; ₹150 owed blocks borrowing until settled</a:t>
            </a:r>
            <a:endParaRPr lang="en-US" sz="1500" dirty="0"/>
          </a:p>
        </p:txBody>
      </p:sp>
      <p:sp>
        <p:nvSpPr>
          <p:cNvPr id="11" name="rule 3 icon"/>
          <p:cNvSpPr/>
          <p:nvPr/>
        </p:nvSpPr>
        <p:spPr>
          <a:xfrm>
            <a:off x="548640" y="438912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2" name="rule 3 icon label"/>
          <p:cNvSpPr txBox="1"/>
          <p:nvPr/>
        </p:nvSpPr>
        <p:spPr>
          <a:xfrm>
            <a:off x="548640" y="4389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3" name="rule 3 title"/>
          <p:cNvSpPr txBox="1"/>
          <p:nvPr/>
        </p:nvSpPr>
        <p:spPr>
          <a:xfrm>
            <a:off x="1234440" y="434340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FIFO holds queue</a:t>
            </a:r>
            <a:endParaRPr lang="en-US" sz="2000" dirty="0"/>
          </a:p>
        </p:txBody>
      </p:sp>
      <p:sp>
        <p:nvSpPr>
          <p:cNvPr id="14" name="rule 3 text"/>
          <p:cNvSpPr txBox="1"/>
          <p:nvPr/>
        </p:nvSpPr>
        <p:spPr>
          <a:xfrm>
            <a:off x="1234440" y="4782312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554B"/>
                </a:solidFill>
              </a:rPr>
              <a:t>A returned copy waits 3 days for the next member, then passes on</a:t>
            </a:r>
            <a:endParaRPr lang="en-US" sz="1500" dirty="0"/>
          </a:p>
        </p:txBody>
      </p:sp>
      <p:pic>
        <p:nvPicPr>
          <p:cNvPr id="15" name="catalogue screenshot" descr="C:/Users/Aanvi/Desktop/DevOps/DevOps-project/docs/evidence/m1-app-catalog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0" y="1371600"/>
            <a:ext cx="6126480" cy="3756157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16" name="rules caption"/>
          <p:cNvSpPr txBox="1"/>
          <p:nvPr/>
        </p:nvSpPr>
        <p:spPr>
          <a:xfrm>
            <a:off x="5532120" y="5257800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554B"/>
                </a:solidFill>
              </a:rPr>
              <a:t>All rules are pure functions in backend/app/circulation/, tested with pinned dates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2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Every commit travels the same automated path</a:t>
            </a:r>
            <a:endParaRPr lang="en-US" sz="3400" dirty="0"/>
          </a:p>
        </p:txBody>
      </p:sp>
      <p:sp>
        <p:nvSpPr>
          <p:cNvPr id="3" name="step 1"/>
          <p:cNvSpPr/>
          <p:nvPr/>
        </p:nvSpPr>
        <p:spPr>
          <a:xfrm>
            <a:off x="548640" y="1828800"/>
            <a:ext cx="1664208" cy="1920240"/>
          </a:xfrm>
          <a:prstGeom prst="roundRect">
            <a:avLst>
              <a:gd name="adj" fmla="val 659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tep 1 number"/>
          <p:cNvSpPr txBox="1"/>
          <p:nvPr/>
        </p:nvSpPr>
        <p:spPr>
          <a:xfrm>
            <a:off x="713232" y="19659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5" name="step 1 title"/>
          <p:cNvSpPr txBox="1"/>
          <p:nvPr/>
        </p:nvSpPr>
        <p:spPr>
          <a:xfrm>
            <a:off x="713232" y="2468880"/>
            <a:ext cx="1389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git push</a:t>
            </a:r>
            <a:endParaRPr lang="en-US" sz="1600" dirty="0"/>
          </a:p>
        </p:txBody>
      </p:sp>
      <p:sp>
        <p:nvSpPr>
          <p:cNvPr id="6" name="step 1 text"/>
          <p:cNvSpPr txBox="1"/>
          <p:nvPr/>
        </p:nvSpPr>
        <p:spPr>
          <a:xfrm>
            <a:off x="713232" y="2880360"/>
            <a:ext cx="13898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554B"/>
                </a:solidFill>
              </a:rPr>
              <a:t>main or a PR</a:t>
            </a:r>
            <a:endParaRPr lang="en-US" sz="1200" dirty="0"/>
          </a:p>
        </p:txBody>
      </p:sp>
      <p:sp>
        <p:nvSpPr>
          <p:cNvPr id="7" name="arrow 1"/>
          <p:cNvSpPr/>
          <p:nvPr/>
        </p:nvSpPr>
        <p:spPr>
          <a:xfrm rot="5400000">
            <a:off x="2249424" y="2697480"/>
            <a:ext cx="128016" cy="182880"/>
          </a:xfrm>
          <a:prstGeom prst="rtTriangle">
            <a:avLst/>
          </a:prstGeom>
          <a:solidFill>
            <a:srgbClr val="B9B2A3"/>
          </a:solidFill>
          <a:ln w="12700">
            <a:solidFill>
              <a:srgbClr val="B9B2A3"/>
            </a:solidFill>
            <a:prstDash val="solid"/>
          </a:ln>
        </p:spPr>
      </p:sp>
      <p:sp>
        <p:nvSpPr>
          <p:cNvPr id="8" name="step 2"/>
          <p:cNvSpPr/>
          <p:nvPr/>
        </p:nvSpPr>
        <p:spPr>
          <a:xfrm>
            <a:off x="2414016" y="1828800"/>
            <a:ext cx="1664208" cy="1920240"/>
          </a:xfrm>
          <a:prstGeom prst="roundRect">
            <a:avLst>
              <a:gd name="adj" fmla="val 659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tep 2 number"/>
          <p:cNvSpPr txBox="1"/>
          <p:nvPr/>
        </p:nvSpPr>
        <p:spPr>
          <a:xfrm>
            <a:off x="2578608" y="19659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0" name="step 2 title"/>
          <p:cNvSpPr txBox="1"/>
          <p:nvPr/>
        </p:nvSpPr>
        <p:spPr>
          <a:xfrm>
            <a:off x="2578608" y="2468880"/>
            <a:ext cx="1389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Quality gates</a:t>
            </a:r>
            <a:endParaRPr lang="en-US" sz="1600" dirty="0"/>
          </a:p>
        </p:txBody>
      </p:sp>
      <p:sp>
        <p:nvSpPr>
          <p:cNvPr id="11" name="step 2 text"/>
          <p:cNvSpPr txBox="1"/>
          <p:nvPr/>
        </p:nvSpPr>
        <p:spPr>
          <a:xfrm>
            <a:off x="2578608" y="2880360"/>
            <a:ext cx="13898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554B"/>
                </a:solidFill>
              </a:rPr>
              <a:t>ruff · 111 tests · build · helm · terraform · gitleaks</a:t>
            </a:r>
            <a:endParaRPr lang="en-US" sz="1200" dirty="0"/>
          </a:p>
        </p:txBody>
      </p:sp>
      <p:sp>
        <p:nvSpPr>
          <p:cNvPr id="12" name="arrow 2"/>
          <p:cNvSpPr/>
          <p:nvPr/>
        </p:nvSpPr>
        <p:spPr>
          <a:xfrm rot="5400000">
            <a:off x="4114800" y="2697480"/>
            <a:ext cx="128016" cy="182880"/>
          </a:xfrm>
          <a:prstGeom prst="rtTriangle">
            <a:avLst/>
          </a:prstGeom>
          <a:solidFill>
            <a:srgbClr val="B9B2A3"/>
          </a:solidFill>
          <a:ln w="12700">
            <a:solidFill>
              <a:srgbClr val="B9B2A3"/>
            </a:solidFill>
            <a:prstDash val="solid"/>
          </a:ln>
        </p:spPr>
      </p:sp>
      <p:sp>
        <p:nvSpPr>
          <p:cNvPr id="13" name="step 3"/>
          <p:cNvSpPr/>
          <p:nvPr/>
        </p:nvSpPr>
        <p:spPr>
          <a:xfrm>
            <a:off x="4279392" y="1828800"/>
            <a:ext cx="1664208" cy="1920240"/>
          </a:xfrm>
          <a:prstGeom prst="roundRect">
            <a:avLst>
              <a:gd name="adj" fmla="val 6593"/>
            </a:avLst>
          </a:prstGeom>
          <a:solidFill>
            <a:srgbClr val="FBF1DC"/>
          </a:solidFill>
          <a:ln w="12700">
            <a:solidFill>
              <a:srgbClr val="FBF1DC"/>
            </a:solidFill>
            <a:prstDash val="solid"/>
          </a:ln>
        </p:spPr>
      </p:sp>
      <p:sp>
        <p:nvSpPr>
          <p:cNvPr id="14" name="step 3 number"/>
          <p:cNvSpPr txBox="1"/>
          <p:nvPr/>
        </p:nvSpPr>
        <p:spPr>
          <a:xfrm>
            <a:off x="4443984" y="19659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 3 title"/>
          <p:cNvSpPr txBox="1"/>
          <p:nvPr/>
        </p:nvSpPr>
        <p:spPr>
          <a:xfrm>
            <a:off x="4443984" y="2468880"/>
            <a:ext cx="1389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Trivy gate</a:t>
            </a:r>
            <a:endParaRPr lang="en-US" sz="1600" dirty="0"/>
          </a:p>
        </p:txBody>
      </p:sp>
      <p:sp>
        <p:nvSpPr>
          <p:cNvPr id="16" name="step 3 text"/>
          <p:cNvSpPr txBox="1"/>
          <p:nvPr/>
        </p:nvSpPr>
        <p:spPr>
          <a:xfrm>
            <a:off x="4443984" y="2880360"/>
            <a:ext cx="13898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554B"/>
                </a:solidFill>
              </a:rPr>
              <a:t>0 HIGH / CRITICAL or nothing ships</a:t>
            </a:r>
            <a:endParaRPr lang="en-US" sz="1200" dirty="0"/>
          </a:p>
        </p:txBody>
      </p:sp>
      <p:sp>
        <p:nvSpPr>
          <p:cNvPr id="17" name="arrow 3"/>
          <p:cNvSpPr/>
          <p:nvPr/>
        </p:nvSpPr>
        <p:spPr>
          <a:xfrm rot="5400000">
            <a:off x="5980176" y="2697480"/>
            <a:ext cx="128016" cy="182880"/>
          </a:xfrm>
          <a:prstGeom prst="rtTriangle">
            <a:avLst/>
          </a:prstGeom>
          <a:solidFill>
            <a:srgbClr val="B9B2A3"/>
          </a:solidFill>
          <a:ln w="12700">
            <a:solidFill>
              <a:srgbClr val="B9B2A3"/>
            </a:solidFill>
            <a:prstDash val="solid"/>
          </a:ln>
        </p:spPr>
      </p:sp>
      <p:sp>
        <p:nvSpPr>
          <p:cNvPr id="18" name="step 4"/>
          <p:cNvSpPr/>
          <p:nvPr/>
        </p:nvSpPr>
        <p:spPr>
          <a:xfrm>
            <a:off x="6144768" y="1828800"/>
            <a:ext cx="1664208" cy="1920240"/>
          </a:xfrm>
          <a:prstGeom prst="roundRect">
            <a:avLst>
              <a:gd name="adj" fmla="val 659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tep 4 number"/>
          <p:cNvSpPr txBox="1"/>
          <p:nvPr/>
        </p:nvSpPr>
        <p:spPr>
          <a:xfrm>
            <a:off x="6309360" y="19659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400" dirty="0"/>
          </a:p>
        </p:txBody>
      </p:sp>
      <p:sp>
        <p:nvSpPr>
          <p:cNvPr id="20" name="step 4 title"/>
          <p:cNvSpPr txBox="1"/>
          <p:nvPr/>
        </p:nvSpPr>
        <p:spPr>
          <a:xfrm>
            <a:off x="6309360" y="2468880"/>
            <a:ext cx="1389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GHCR</a:t>
            </a:r>
            <a:endParaRPr lang="en-US" sz="1600" dirty="0"/>
          </a:p>
        </p:txBody>
      </p:sp>
      <p:sp>
        <p:nvSpPr>
          <p:cNvPr id="21" name="step 4 text"/>
          <p:cNvSpPr txBox="1"/>
          <p:nvPr/>
        </p:nvSpPr>
        <p:spPr>
          <a:xfrm>
            <a:off x="6309360" y="2880360"/>
            <a:ext cx="13898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554B"/>
                </a:solidFill>
              </a:rPr>
              <a:t>sha-&lt;commit&gt; tags, SBOM, provenance</a:t>
            </a:r>
            <a:endParaRPr lang="en-US" sz="1200" dirty="0"/>
          </a:p>
        </p:txBody>
      </p:sp>
      <p:sp>
        <p:nvSpPr>
          <p:cNvPr id="22" name="arrow 4"/>
          <p:cNvSpPr/>
          <p:nvPr/>
        </p:nvSpPr>
        <p:spPr>
          <a:xfrm rot="5400000">
            <a:off x="7845552" y="2697480"/>
            <a:ext cx="128016" cy="182880"/>
          </a:xfrm>
          <a:prstGeom prst="rtTriangle">
            <a:avLst/>
          </a:prstGeom>
          <a:solidFill>
            <a:srgbClr val="B9B2A3"/>
          </a:solidFill>
          <a:ln w="12700">
            <a:solidFill>
              <a:srgbClr val="B9B2A3"/>
            </a:solidFill>
            <a:prstDash val="solid"/>
          </a:ln>
        </p:spPr>
      </p:sp>
      <p:sp>
        <p:nvSpPr>
          <p:cNvPr id="23" name="step 5"/>
          <p:cNvSpPr/>
          <p:nvPr/>
        </p:nvSpPr>
        <p:spPr>
          <a:xfrm>
            <a:off x="8010144" y="1828800"/>
            <a:ext cx="1664208" cy="1920240"/>
          </a:xfrm>
          <a:prstGeom prst="roundRect">
            <a:avLst>
              <a:gd name="adj" fmla="val 659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step 5 number"/>
          <p:cNvSpPr txBox="1"/>
          <p:nvPr/>
        </p:nvSpPr>
        <p:spPr>
          <a:xfrm>
            <a:off x="8174736" y="19659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400" dirty="0"/>
          </a:p>
        </p:txBody>
      </p:sp>
      <p:sp>
        <p:nvSpPr>
          <p:cNvPr id="25" name="step 5 title"/>
          <p:cNvSpPr txBox="1"/>
          <p:nvPr/>
        </p:nvSpPr>
        <p:spPr>
          <a:xfrm>
            <a:off x="8174736" y="2468880"/>
            <a:ext cx="1389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Image Updater</a:t>
            </a:r>
            <a:endParaRPr lang="en-US" sz="1600" dirty="0"/>
          </a:p>
        </p:txBody>
      </p:sp>
      <p:sp>
        <p:nvSpPr>
          <p:cNvPr id="26" name="step 5 text"/>
          <p:cNvSpPr txBox="1"/>
          <p:nvPr/>
        </p:nvSpPr>
        <p:spPr>
          <a:xfrm>
            <a:off x="8174736" y="2880360"/>
            <a:ext cx="13898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554B"/>
                </a:solidFill>
              </a:rPr>
              <a:t>sees the new tag in ~1 min</a:t>
            </a:r>
            <a:endParaRPr lang="en-US" sz="1200" dirty="0"/>
          </a:p>
        </p:txBody>
      </p:sp>
      <p:sp>
        <p:nvSpPr>
          <p:cNvPr id="27" name="arrow 5"/>
          <p:cNvSpPr/>
          <p:nvPr/>
        </p:nvSpPr>
        <p:spPr>
          <a:xfrm rot="5400000">
            <a:off x="9710928" y="2697480"/>
            <a:ext cx="128016" cy="182880"/>
          </a:xfrm>
          <a:prstGeom prst="rtTriangle">
            <a:avLst/>
          </a:prstGeom>
          <a:solidFill>
            <a:srgbClr val="B9B2A3"/>
          </a:solidFill>
          <a:ln w="12700">
            <a:solidFill>
              <a:srgbClr val="B9B2A3"/>
            </a:solidFill>
            <a:prstDash val="solid"/>
          </a:ln>
        </p:spPr>
      </p:sp>
      <p:sp>
        <p:nvSpPr>
          <p:cNvPr id="28" name="step 6"/>
          <p:cNvSpPr/>
          <p:nvPr/>
        </p:nvSpPr>
        <p:spPr>
          <a:xfrm>
            <a:off x="9875520" y="1828800"/>
            <a:ext cx="1664208" cy="1920240"/>
          </a:xfrm>
          <a:prstGeom prst="roundRect">
            <a:avLst>
              <a:gd name="adj" fmla="val 659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step 6 number"/>
          <p:cNvSpPr txBox="1"/>
          <p:nvPr/>
        </p:nvSpPr>
        <p:spPr>
          <a:xfrm>
            <a:off x="10040112" y="19659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400" dirty="0"/>
          </a:p>
        </p:txBody>
      </p:sp>
      <p:sp>
        <p:nvSpPr>
          <p:cNvPr id="30" name="step 6 title"/>
          <p:cNvSpPr txBox="1"/>
          <p:nvPr/>
        </p:nvSpPr>
        <p:spPr>
          <a:xfrm>
            <a:off x="10040112" y="2468880"/>
            <a:ext cx="1389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Argo CD</a:t>
            </a:r>
            <a:endParaRPr lang="en-US" sz="1600" dirty="0"/>
          </a:p>
        </p:txBody>
      </p:sp>
      <p:sp>
        <p:nvSpPr>
          <p:cNvPr id="31" name="step 6 text"/>
          <p:cNvSpPr txBox="1"/>
          <p:nvPr/>
        </p:nvSpPr>
        <p:spPr>
          <a:xfrm>
            <a:off x="10040112" y="2880360"/>
            <a:ext cx="13898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554B"/>
                </a:solidFill>
              </a:rPr>
              <a:t>rolling update, zero downtime</a:t>
            </a:r>
            <a:endParaRPr lang="en-US" sz="1200" dirty="0"/>
          </a:p>
        </p:txBody>
      </p:sp>
      <p:sp>
        <p:nvSpPr>
          <p:cNvPr id="32" name="gitops note"/>
          <p:cNvSpPr txBox="1"/>
          <p:nvPr/>
        </p:nvSpPr>
        <p:spPr>
          <a:xfrm>
            <a:off x="548640" y="41605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No bot commits: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Image Updater writes the tag to the Argo CD Application, not to Git, so every one of the 45+ commits is mine.</a:t>
            </a:r>
            <a:endParaRPr lang="en-US" sz="1600" dirty="0"/>
          </a:p>
        </p:txBody>
      </p:sp>
      <p:sp>
        <p:nvSpPr>
          <p:cNvPr id="33" name="gate note"/>
          <p:cNvSpPr txBox="1"/>
          <p:nvPr/>
        </p:nvSpPr>
        <p:spPr>
          <a:xfrm>
            <a:off x="548640" y="47091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Proven in PR #1: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the first commit added tests for a new rule; CI failed and skipped every image job; the second commit made it green.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2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Quality and security, measured</a:t>
            </a:r>
            <a:endParaRPr lang="en-US" sz="3400" dirty="0"/>
          </a:p>
        </p:txBody>
      </p:sp>
      <p:sp>
        <p:nvSpPr>
          <p:cNvPr id="3" name="stat 1"/>
          <p:cNvSpPr/>
          <p:nvPr/>
        </p:nvSpPr>
        <p:spPr>
          <a:xfrm>
            <a:off x="548640" y="1417320"/>
            <a:ext cx="260604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tat 1 value"/>
          <p:cNvSpPr txBox="1"/>
          <p:nvPr/>
        </p:nvSpPr>
        <p:spPr>
          <a:xfrm>
            <a:off x="777240" y="16459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111</a:t>
            </a:r>
            <a:endParaRPr lang="en-US" sz="5400" dirty="0"/>
          </a:p>
        </p:txBody>
      </p:sp>
      <p:sp>
        <p:nvSpPr>
          <p:cNvPr id="5" name="stat 1 label"/>
          <p:cNvSpPr txBox="1"/>
          <p:nvPr/>
        </p:nvSpPr>
        <p:spPr>
          <a:xfrm>
            <a:off x="777240" y="26060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tests passing</a:t>
            </a:r>
            <a:endParaRPr lang="en-US" sz="1600" dirty="0"/>
          </a:p>
        </p:txBody>
      </p:sp>
      <p:sp>
        <p:nvSpPr>
          <p:cNvPr id="6" name="stat 1 detail"/>
          <p:cNvSpPr txBox="1"/>
          <p:nvPr/>
        </p:nvSpPr>
        <p:spPr>
          <a:xfrm>
            <a:off x="777240" y="297180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554B"/>
                </a:solidFill>
              </a:rPr>
              <a:t>98% coverage, isolated SQLite</a:t>
            </a:r>
            <a:endParaRPr lang="en-US" sz="1200" dirty="0"/>
          </a:p>
        </p:txBody>
      </p:sp>
      <p:sp>
        <p:nvSpPr>
          <p:cNvPr id="7" name="stat 2"/>
          <p:cNvSpPr/>
          <p:nvPr/>
        </p:nvSpPr>
        <p:spPr>
          <a:xfrm>
            <a:off x="3337560" y="1417320"/>
            <a:ext cx="260604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tat 2 value"/>
          <p:cNvSpPr txBox="1"/>
          <p:nvPr/>
        </p:nvSpPr>
        <p:spPr>
          <a:xfrm>
            <a:off x="3566160" y="16459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5400" dirty="0"/>
          </a:p>
        </p:txBody>
      </p:sp>
      <p:sp>
        <p:nvSpPr>
          <p:cNvPr id="9" name="stat 2 label"/>
          <p:cNvSpPr txBox="1"/>
          <p:nvPr/>
        </p:nvSpPr>
        <p:spPr>
          <a:xfrm>
            <a:off x="3566160" y="26060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HIGH / CRITICAL CVEs</a:t>
            </a:r>
            <a:endParaRPr lang="en-US" sz="1600" dirty="0"/>
          </a:p>
        </p:txBody>
      </p:sp>
      <p:sp>
        <p:nvSpPr>
          <p:cNvPr id="10" name="stat 2 detail"/>
          <p:cNvSpPr txBox="1"/>
          <p:nvPr/>
        </p:nvSpPr>
        <p:spPr>
          <a:xfrm>
            <a:off x="3566160" y="297180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554B"/>
                </a:solidFill>
              </a:rPr>
              <a:t>Trivy on all three images</a:t>
            </a:r>
            <a:endParaRPr lang="en-US" sz="1200" dirty="0"/>
          </a:p>
        </p:txBody>
      </p:sp>
      <p:sp>
        <p:nvSpPr>
          <p:cNvPr id="11" name="stat 3"/>
          <p:cNvSpPr/>
          <p:nvPr/>
        </p:nvSpPr>
        <p:spPr>
          <a:xfrm>
            <a:off x="6126480" y="1417320"/>
            <a:ext cx="260604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stat 3 value"/>
          <p:cNvSpPr txBox="1"/>
          <p:nvPr/>
        </p:nvSpPr>
        <p:spPr>
          <a:xfrm>
            <a:off x="6355080" y="16459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5400" dirty="0"/>
          </a:p>
        </p:txBody>
      </p:sp>
      <p:sp>
        <p:nvSpPr>
          <p:cNvPr id="13" name="stat 3 label"/>
          <p:cNvSpPr txBox="1"/>
          <p:nvPr/>
        </p:nvSpPr>
        <p:spPr>
          <a:xfrm>
            <a:off x="6355080" y="26060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pipeline jobs</a:t>
            </a:r>
            <a:endParaRPr lang="en-US" sz="1600" dirty="0"/>
          </a:p>
        </p:txBody>
      </p:sp>
      <p:sp>
        <p:nvSpPr>
          <p:cNvPr id="14" name="stat 3 detail"/>
          <p:cNvSpPr txBox="1"/>
          <p:nvPr/>
        </p:nvSpPr>
        <p:spPr>
          <a:xfrm>
            <a:off x="6355080" y="297180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554B"/>
                </a:solidFill>
              </a:rPr>
              <a:t>lint, test, build, helm, tf, secrets, images</a:t>
            </a:r>
            <a:endParaRPr lang="en-US" sz="1200" dirty="0"/>
          </a:p>
        </p:txBody>
      </p:sp>
      <p:sp>
        <p:nvSpPr>
          <p:cNvPr id="15" name="stat 4"/>
          <p:cNvSpPr/>
          <p:nvPr/>
        </p:nvSpPr>
        <p:spPr>
          <a:xfrm>
            <a:off x="8915400" y="1417320"/>
            <a:ext cx="260604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tat 4 value"/>
          <p:cNvSpPr txBox="1"/>
          <p:nvPr/>
        </p:nvSpPr>
        <p:spPr>
          <a:xfrm>
            <a:off x="9144000" y="16459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10001</a:t>
            </a:r>
            <a:endParaRPr lang="en-US" sz="5400" dirty="0"/>
          </a:p>
        </p:txBody>
      </p:sp>
      <p:sp>
        <p:nvSpPr>
          <p:cNvPr id="17" name="stat 4 label"/>
          <p:cNvSpPr txBox="1"/>
          <p:nvPr/>
        </p:nvSpPr>
        <p:spPr>
          <a:xfrm>
            <a:off x="9144000" y="26060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non-root UID</a:t>
            </a:r>
            <a:endParaRPr lang="en-US" sz="1600" dirty="0"/>
          </a:p>
        </p:txBody>
      </p:sp>
      <p:sp>
        <p:nvSpPr>
          <p:cNvPr id="18" name="stat 4 detail"/>
          <p:cNvSpPr txBox="1"/>
          <p:nvPr/>
        </p:nvSpPr>
        <p:spPr>
          <a:xfrm>
            <a:off x="9144000" y="297180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554B"/>
                </a:solidFill>
              </a:rPr>
              <a:t>read-only root, all caps dropped</a:t>
            </a:r>
            <a:endParaRPr lang="en-US" sz="1200" dirty="0"/>
          </a:p>
        </p:txBody>
      </p:sp>
      <p:pic>
        <p:nvPicPr>
          <p:cNvPr id="19" name="trivy screenshot" descr="C:/Users/Aanvi/Desktop/DevOps/DevOps-project/docs/evidence/m6-trivy-pipeline-lo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794760"/>
            <a:ext cx="3749040" cy="2346205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20" name="trivy explanation"/>
          <p:cNvSpPr txBox="1"/>
          <p:nvPr/>
        </p:nvSpPr>
        <p:spPr>
          <a:xfrm>
            <a:off x="4663440" y="3840480"/>
            <a:ext cx="6949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What Trivy checks: Alpine OS packages and every Python library in the image, plus secrets in the layers. Clean because runtime images are minimal (multi-stage, no pip, no Node). Re-scanned on every commit; Dependabot proposes updates weekly.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2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Kubernetes, packaged with Helm, delivered by Argo CD</a:t>
            </a:r>
            <a:endParaRPr lang="en-US" sz="3400" dirty="0"/>
          </a:p>
        </p:txBody>
      </p:sp>
      <p:pic>
        <p:nvPicPr>
          <p:cNvPr id="3" name="argo cd screenshot" descr="C:/Users/Aanvi/Desktop/DevOps/DevOps-project/docs/evidence/m10-argocd-app-tr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035040" cy="3700095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4" name="k8s 1 title"/>
          <p:cNvSpPr txBox="1"/>
          <p:nvPr/>
        </p:nvSpPr>
        <p:spPr>
          <a:xfrm>
            <a:off x="6949440" y="141732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Helm chart</a:t>
            </a:r>
            <a:endParaRPr lang="en-US" sz="1800" dirty="0"/>
          </a:p>
        </p:txBody>
      </p:sp>
      <p:sp>
        <p:nvSpPr>
          <p:cNvPr id="5" name="k8s 1 text"/>
          <p:cNvSpPr txBox="1"/>
          <p:nvPr/>
        </p:nvSpPr>
        <p:spPr>
          <a:xfrm>
            <a:off x="6949440" y="1801368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Deployments, StatefulSet + PVC, ClusterIP Services, Ingress (/ and /api), PDB, NetworkPolicy, helm test</a:t>
            </a:r>
            <a:endParaRPr lang="en-US" sz="1500" dirty="0"/>
          </a:p>
        </p:txBody>
      </p:sp>
      <p:sp>
        <p:nvSpPr>
          <p:cNvPr id="6" name="k8s 2 title"/>
          <p:cNvSpPr txBox="1"/>
          <p:nvPr/>
        </p:nvSpPr>
        <p:spPr>
          <a:xfrm>
            <a:off x="6949440" y="278892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Autoscaling</a:t>
            </a:r>
            <a:endParaRPr lang="en-US" sz="1800" dirty="0"/>
          </a:p>
        </p:txBody>
      </p:sp>
      <p:sp>
        <p:nvSpPr>
          <p:cNvPr id="7" name="k8s 2 text"/>
          <p:cNvSpPr txBox="1"/>
          <p:nvPr/>
        </p:nvSpPr>
        <p:spPr>
          <a:xfrm>
            <a:off x="6949440" y="3172968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HPA on CPU scaled the backend 2 → 6 pods under a k6 load test</a:t>
            </a:r>
            <a:endParaRPr lang="en-US" sz="1500" dirty="0"/>
          </a:p>
        </p:txBody>
      </p:sp>
      <p:sp>
        <p:nvSpPr>
          <p:cNvPr id="8" name="k8s 3 title"/>
          <p:cNvSpPr txBox="1"/>
          <p:nvPr/>
        </p:nvSpPr>
        <p:spPr>
          <a:xfrm>
            <a:off x="6949440" y="416052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Hardened</a:t>
            </a:r>
            <a:endParaRPr lang="en-US" sz="1800" dirty="0"/>
          </a:p>
        </p:txBody>
      </p:sp>
      <p:sp>
        <p:nvSpPr>
          <p:cNvPr id="9" name="k8s 3 text"/>
          <p:cNvSpPr txBox="1"/>
          <p:nvPr/>
        </p:nvSpPr>
        <p:spPr>
          <a:xfrm>
            <a:off x="6949440" y="4544568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Restricted Pod Security on the namespace; probes split into startup, liveness and readiness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2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AWS with Terraform, priced for a student</a:t>
            </a:r>
            <a:endParaRPr lang="en-US" sz="3400" dirty="0"/>
          </a:p>
        </p:txBody>
      </p:sp>
      <p:sp>
        <p:nvSpPr>
          <p:cNvPr id="3" name="vpc box"/>
          <p:cNvSpPr/>
          <p:nvPr/>
        </p:nvSpPr>
        <p:spPr>
          <a:xfrm>
            <a:off x="548640" y="1417320"/>
            <a:ext cx="6035040" cy="4023360"/>
          </a:xfrm>
          <a:prstGeom prst="roundRect">
            <a:avLst>
              <a:gd name="adj" fmla="val 2727"/>
            </a:avLst>
          </a:prstGeom>
          <a:solidFill>
            <a:srgbClr val="EEF4F0"/>
          </a:solidFill>
          <a:ln w="12700">
            <a:solidFill>
              <a:srgbClr val="EEF4F0"/>
            </a:solidFill>
            <a:prstDash val="solid"/>
          </a:ln>
        </p:spPr>
      </p:sp>
      <p:sp>
        <p:nvSpPr>
          <p:cNvPr id="4" name="vpc label"/>
          <p:cNvSpPr txBox="1"/>
          <p:nvPr/>
        </p:nvSpPr>
        <p:spPr>
          <a:xfrm>
            <a:off x="77724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VPC 10.42.0.0/16 · ap-south-1</a:t>
            </a:r>
            <a:endParaRPr lang="en-US" sz="1400" dirty="0"/>
          </a:p>
        </p:txBody>
      </p:sp>
      <p:sp>
        <p:nvSpPr>
          <p:cNvPr id="5" name="subnet 1"/>
          <p:cNvSpPr/>
          <p:nvPr/>
        </p:nvSpPr>
        <p:spPr>
          <a:xfrm>
            <a:off x="822960" y="2103120"/>
            <a:ext cx="2560320" cy="2011680"/>
          </a:xfrm>
          <a:prstGeom prst="roundRect">
            <a:avLst>
              <a:gd name="adj" fmla="val 5455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6" name="subnet 1 label"/>
          <p:cNvSpPr txBox="1"/>
          <p:nvPr/>
        </p:nvSpPr>
        <p:spPr>
          <a:xfrm>
            <a:off x="1005840" y="224028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Public subnet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B554B"/>
                </a:solidFill>
              </a:rPr>
              <a:t>ap-south-1a · 10.42.0.0/20</a:t>
            </a:r>
            <a:endParaRPr lang="en-US" sz="1400" dirty="0"/>
          </a:p>
        </p:txBody>
      </p:sp>
      <p:sp>
        <p:nvSpPr>
          <p:cNvPr id="7" name="node 1"/>
          <p:cNvSpPr/>
          <p:nvPr/>
        </p:nvSpPr>
        <p:spPr>
          <a:xfrm>
            <a:off x="1005840" y="3017520"/>
            <a:ext cx="2194560" cy="822960"/>
          </a:xfrm>
          <a:prstGeom prst="roundRect">
            <a:avLst>
              <a:gd name="adj" fmla="val 13333"/>
            </a:avLst>
          </a:prstGeom>
          <a:solidFill>
            <a:srgbClr val="E3EFE7"/>
          </a:solidFill>
          <a:ln w="12700">
            <a:solidFill>
              <a:srgbClr val="E3EFE7"/>
            </a:solidFill>
            <a:prstDash val="solid"/>
          </a:ln>
        </p:spPr>
      </p:sp>
      <p:sp>
        <p:nvSpPr>
          <p:cNvPr id="8" name="node 1 label"/>
          <p:cNvSpPr txBox="1"/>
          <p:nvPr/>
        </p:nvSpPr>
        <p:spPr>
          <a:xfrm>
            <a:off x="1097280" y="301752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EKS node · t3.medium Spot</a:t>
            </a:r>
            <a:endParaRPr lang="en-US" sz="1300" dirty="0"/>
          </a:p>
        </p:txBody>
      </p:sp>
      <p:sp>
        <p:nvSpPr>
          <p:cNvPr id="9" name="subnet 2"/>
          <p:cNvSpPr/>
          <p:nvPr/>
        </p:nvSpPr>
        <p:spPr>
          <a:xfrm>
            <a:off x="3657600" y="2103120"/>
            <a:ext cx="2560320" cy="2011680"/>
          </a:xfrm>
          <a:prstGeom prst="roundRect">
            <a:avLst>
              <a:gd name="adj" fmla="val 5455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0" name="subnet 2 label"/>
          <p:cNvSpPr txBox="1"/>
          <p:nvPr/>
        </p:nvSpPr>
        <p:spPr>
          <a:xfrm>
            <a:off x="3840480" y="224028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Public subnet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B554B"/>
                </a:solidFill>
              </a:rPr>
              <a:t>ap-south-1b · 10.42.16.0/20</a:t>
            </a:r>
            <a:endParaRPr lang="en-US" sz="1400" dirty="0"/>
          </a:p>
        </p:txBody>
      </p:sp>
      <p:sp>
        <p:nvSpPr>
          <p:cNvPr id="11" name="node 2"/>
          <p:cNvSpPr/>
          <p:nvPr/>
        </p:nvSpPr>
        <p:spPr>
          <a:xfrm>
            <a:off x="3840480" y="3017520"/>
            <a:ext cx="2194560" cy="822960"/>
          </a:xfrm>
          <a:prstGeom prst="roundRect">
            <a:avLst>
              <a:gd name="adj" fmla="val 13333"/>
            </a:avLst>
          </a:prstGeom>
          <a:solidFill>
            <a:srgbClr val="E3EFE7"/>
          </a:solidFill>
          <a:ln w="12700">
            <a:solidFill>
              <a:srgbClr val="E3EFE7"/>
            </a:solidFill>
            <a:prstDash val="solid"/>
          </a:ln>
        </p:spPr>
      </p:sp>
      <p:sp>
        <p:nvSpPr>
          <p:cNvPr id="12" name="node 2 label"/>
          <p:cNvSpPr txBox="1"/>
          <p:nvPr/>
        </p:nvSpPr>
        <p:spPr>
          <a:xfrm>
            <a:off x="3931920" y="301752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EKS node · t3.medium Spot</a:t>
            </a:r>
            <a:endParaRPr lang="en-US" sz="1300" dirty="0"/>
          </a:p>
        </p:txBody>
      </p:sp>
      <p:sp>
        <p:nvSpPr>
          <p:cNvPr id="13" name="eks label"/>
          <p:cNvSpPr txBox="1"/>
          <p:nvPr/>
        </p:nvSpPr>
        <p:spPr>
          <a:xfrm>
            <a:off x="822960" y="43434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EKS 1.35 control plane · access entries · Pod Identity for EBS</a:t>
            </a:r>
            <a:endParaRPr lang="en-US" sz="1300" dirty="0"/>
          </a:p>
        </p:txBody>
      </p:sp>
      <p:sp>
        <p:nvSpPr>
          <p:cNvPr id="14" name="igw label"/>
          <p:cNvSpPr txBox="1"/>
          <p:nvPr/>
        </p:nvSpPr>
        <p:spPr>
          <a:xfrm>
            <a:off x="822960" y="47548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Internet gateway · budget alert · every resource tagged Project=shelfwise</a:t>
            </a:r>
            <a:endParaRPr lang="en-US" sz="1300" dirty="0"/>
          </a:p>
        </p:txBody>
      </p:sp>
      <p:sp>
        <p:nvSpPr>
          <p:cNvPr id="15" name="cost value"/>
          <p:cNvSpPr txBox="1"/>
          <p:nvPr/>
        </p:nvSpPr>
        <p:spPr>
          <a:xfrm>
            <a:off x="7040880" y="146304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$0.16</a:t>
            </a:r>
            <a:endParaRPr lang="en-US" sz="5400" dirty="0"/>
          </a:p>
        </p:txBody>
      </p:sp>
      <p:sp>
        <p:nvSpPr>
          <p:cNvPr id="16" name="cost label"/>
          <p:cNvSpPr txBox="1"/>
          <p:nvPr/>
        </p:nvSpPr>
        <p:spPr>
          <a:xfrm>
            <a:off x="7040880" y="23774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per hour while the cluster is up</a:t>
            </a:r>
            <a:endParaRPr lang="en-US" sz="1600" dirty="0"/>
          </a:p>
        </p:txBody>
      </p:sp>
      <p:sp>
        <p:nvSpPr>
          <p:cNvPr id="17" name="cost reasons"/>
          <p:cNvSpPr txBox="1"/>
          <p:nvPr/>
        </p:nvSpPr>
        <p:spPr>
          <a:xfrm>
            <a:off x="7040880" y="2971800"/>
            <a:ext cx="4663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No NAT gateway: saves ~$1.10/day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Spot nodes: ~70% cheaper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Pinned to standard support (extended is 6×)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Hand-written resources, no modules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eks-down.ps1 removes LB + volume, then destroy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2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Observability: the library's health on one screen</a:t>
            </a:r>
            <a:endParaRPr lang="en-US" sz="3400" dirty="0"/>
          </a:p>
        </p:txBody>
      </p:sp>
      <p:pic>
        <p:nvPicPr>
          <p:cNvPr id="3" name="grafana screenshot" descr="C:/Users/Aanvi/Desktop/DevOps/DevOps-project/docs/evidence/m9-grafana-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583680" cy="4036467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4" name="observability text"/>
          <p:cNvSpPr txBox="1"/>
          <p:nvPr/>
        </p:nvSpPr>
        <p:spPr>
          <a:xfrm>
            <a:off x="7452360" y="1417320"/>
            <a:ext cx="42062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HTTP metrics per route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Requests, p50/p95/p99 latency, 5xx ratio</a:t>
            </a:r>
            <a:endParaRPr lang="en-US" sz="15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Library metrics from Postgres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Books on loan, overdue, unpaid fines, holds waiting, refusals by reason</a:t>
            </a:r>
            <a:endParaRPr lang="en-US" sz="15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Five alert rules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Backend down, error rate, slow requests, HPA at max, overdue backlog; two went pending under load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2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Live demo: one commit, no manual deploy</a:t>
            </a:r>
            <a:endParaRPr lang="en-US" sz="3400" dirty="0"/>
          </a:p>
        </p:txBody>
      </p:sp>
      <p:pic>
        <p:nvPicPr>
          <p:cNvPr id="3" name="demo 1 screenshot" descr="C:/Users/Aanvi/Desktop/DevOps/DevOps-project/docs/evidence/m10-2-commit-and-pus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14024"/>
            <a:ext cx="3520440" cy="1456017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4" name="demo 1 caption"/>
          <p:cNvSpPr txBox="1"/>
          <p:nvPr/>
        </p:nvSpPr>
        <p:spPr>
          <a:xfrm>
            <a:off x="548640" y="379476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 · Commit and push a UI change</a:t>
            </a:r>
            <a:endParaRPr lang="en-US" sz="1500" dirty="0"/>
          </a:p>
        </p:txBody>
      </p:sp>
      <p:pic>
        <p:nvPicPr>
          <p:cNvPr id="5" name="demo 2 screenshot" descr="C:/Users/Aanvi/Desktop/DevOps/DevOps-project/docs/evidence/m10-4-pipeline-gre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462838"/>
            <a:ext cx="3520440" cy="2158388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6" name="demo 2 caption"/>
          <p:cNvSpPr txBox="1"/>
          <p:nvPr/>
        </p:nvSpPr>
        <p:spPr>
          <a:xfrm>
            <a:off x="4297680" y="379476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 · Pipeline: test, build, scan, publish</a:t>
            </a:r>
            <a:endParaRPr lang="en-US" sz="1500" dirty="0"/>
          </a:p>
        </p:txBody>
      </p:sp>
      <p:pic>
        <p:nvPicPr>
          <p:cNvPr id="7" name="demo 3 screenshot" descr="C:/Users/Aanvi/Desktop/DevOps/DevOps-project/docs/evidence/m10-6-aft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462838"/>
            <a:ext cx="3520440" cy="2158388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  <p:sp>
        <p:nvSpPr>
          <p:cNvPr id="8" name="demo 3 caption"/>
          <p:cNvSpPr txBox="1"/>
          <p:nvPr/>
        </p:nvSpPr>
        <p:spPr>
          <a:xfrm>
            <a:off x="8046720" y="379476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 · Argo CD rolls out; the page updates</a:t>
            </a:r>
            <a:endParaRPr lang="en-US" sz="1500" dirty="0"/>
          </a:p>
        </p:txBody>
      </p:sp>
      <p:sp>
        <p:nvSpPr>
          <p:cNvPr id="9" name="demo summary"/>
          <p:cNvSpPr txBox="1"/>
          <p:nvPr/>
        </p:nvSpPr>
        <p:spPr>
          <a:xfrm>
            <a:off x="548640" y="44805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About five minutes from git push to the new version serving traffic. The sidebar and the X-Shelfwise-Version header name the running commit, so every pod traces back to its source.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2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011680"/>
            <a:ext cx="8686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What I would do next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611880"/>
            <a:ext cx="8686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E8E2D2"/>
                </a:solidFill>
              </a:rPr>
              <a:t>Move Postgres to Amazon RDS for backups and failover</a:t>
            </a:r>
            <a:endParaRPr lang="en-US" sz="20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E8E2D2"/>
                </a:solidFill>
              </a:rPr>
              <a:t>Replace ingress-nginx with the Gateway API</a:t>
            </a:r>
            <a:endParaRPr lang="en-US" sz="20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E8E2D2"/>
                </a:solidFill>
              </a:rPr>
              <a:t>Add staff login (OIDC) in front of the Ingress</a:t>
            </a:r>
            <a:endParaRPr lang="en-US" sz="20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C9C1AE"/>
                </a:solidFill>
              </a:rPr>
              <a:t>Troubleshooting runbook: troubleshooting/RUNBOOK.md · Evidence: docs/SUBMISSION.md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helfwise Library">
  <a:themeElements>
    <a:clrScheme name="Shelfwise Library">
      <a:dk1>
        <a:srgbClr val="2A2620"/>
      </a:dk1>
      <a:lt1>
        <a:srgbClr val="FFFFFF"/>
      </a:lt1>
      <a:dk2>
        <a:srgbClr val="1F4D3A"/>
      </a:dk2>
      <a:lt2>
        <a:srgbClr val="F4F1EA"/>
      </a:lt2>
      <a:accent1>
        <a:srgbClr val="1F4D3A"/>
      </a:accent1>
      <a:accent2>
        <a:srgbClr val="B98A2E"/>
      </a:accent2>
      <a:accent3>
        <a:srgbClr val="B4532F"/>
      </a:accent3>
      <a:accent4>
        <a:srgbClr val="2A8A5C"/>
      </a:accent4>
      <a:accent5>
        <a:srgbClr val="5B6B63"/>
      </a:accent5>
      <a:accent6>
        <a:srgbClr val="E3EFE7"/>
      </a:accent6>
      <a:hlink>
        <a:srgbClr val="1F4D3A"/>
      </a:hlink>
      <a:folHlink>
        <a:srgbClr val="B98A2E"/>
      </a:folHlink>
    </a:clrScheme>
    <a:fontScheme name="Shelfwise Library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Shelfwise: a library platform shipped like production</dc:title>
  <dc:subject>PptxGenJS Presentation</dc:subject>
  <dc:creator>Aanvi Solanki</dc:creator>
  <cp:lastModifiedBy>Aanvi Solanki</cp:lastModifiedBy>
  <cp:revision>1</cp:revision>
  <dcterms:created xsi:type="dcterms:W3CDTF">2026-10-14T22:52:39Z</dcterms:created>
  <dcterms:modified xsi:type="dcterms:W3CDTF">2026-10-14T22:52:39Z</dcterms:modified>
</cp:coreProperties>
</file>