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6d2a9b-e0f1-f3fc-3dfa-b74ae6cf80c9}">
          <p14:sldIdLst>
            <p14:sldId id="256"/>
          </p14:sldIdLst>
        </p14:section>
        <p14:section name="Application" id="{82376cf2-2e71-2674-1b0b-bbad71651388}">
          <p14:sldIdLst>
            <p14:sldId id="257"/>
          </p14:sldIdLst>
        </p14:section>
        <p14:section name="Delivery" id="{78dbd7e8-d68b-609d-d806-84dfc21be81c}">
          <p14:sldIdLst>
            <p14:sldId id="258"/>
            <p14:sldId id="259"/>
          </p14:sldIdLst>
        </p14:section>
        <p14:section name="Platform" id="{3ac70f8f-de30-d235-bd36-329241f264dc}">
          <p14:sldIdLst>
            <p14:sldId id="260"/>
            <p14:sldId id="261"/>
            <p14:sldId id="262"/>
          </p14:sldIdLst>
        </p14:section>
        <p14:section name="Demo" id="{a5478d96-3891-fd97-654b-7650876c40cd}">
          <p14:sldIdLst>
            <p14:sldId id="263"/>
          </p14:sldIdLst>
        </p14:section>
        <p14:section name="Close" id="{1f8a99e0-1711-2ac0-9786-feb7e3b8806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Shelfwise runs a lending library's front desk: catalogue, members, loans, fines and a fair holds queue. The application is the reason; the point of the project is the path every change takes from my laptop to a monitored Kubernetes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+ SQLAlchemy + Alembic with four related tables, React frontend. 25 REST operations. The rules live in one pure module, so the 111 tests can pin any date without mocking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Emphasise: tests before images, scan before push, SHA tags for traceability, and GitOps pull instead of CI pushing kubectl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a clean scan: it means no known fixable HIGH/CRITICAL issue at build time, not 'secure'.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kubectl get pods,svc,ingress,hpa and helm list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plan / apply / destroy screenshots are in docs/SUBMISSION.md (M7). Applied in Sydney (the only region a Free plan account allows), deployed, then destroyed: 24 resources, about $0.50 of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scrapes via a ServiceMonitor shipped in the chart; the dashboard is a ConfigMap loaded by Grafana's sidecar.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live: edit the sidebar subtitle in VS Code, commit, push, narrate the Actions run, watch Argo CD, refresh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showing the troubleshooting lab if time allows: break the Service selector, find it with endpointslices,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8E2D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4"/>
                </a:solidFill>
              </a:rPr>
              <a:t>Shelfwise · DevOps capstone · Aanvi Solanki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Shelfwise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2D2"/>
                </a:solidFill>
              </a:rPr>
              <a:t>A library circulation platform, shipped like a production service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C1AE"/>
                </a:solidFill>
              </a:rPr>
              <a:t>Aanvi Solanki · Roll no. 24BCS10170 · DevOps capstone (Session 21)</a:t>
            </a:r>
            <a:endParaRPr lang="en-US" sz="2000" dirty="0"/>
          </a:p>
        </p:txBody>
      </p:sp>
      <p:sp>
        <p:nvSpPr>
          <p:cNvPr id="4" name="spine 1"/>
          <p:cNvSpPr/>
          <p:nvPr/>
        </p:nvSpPr>
        <p:spPr>
          <a:xfrm>
            <a:off x="9418320" y="1554480"/>
            <a:ext cx="457200" cy="4206240"/>
          </a:xfrm>
          <a:prstGeom prst="roundRect">
            <a:avLst>
              <a:gd name="adj" fmla="val 10000"/>
            </a:avLst>
          </a:prstGeom>
          <a:solidFill>
            <a:srgbClr val="E2B04A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5" name="spine 2"/>
          <p:cNvSpPr/>
          <p:nvPr/>
        </p:nvSpPr>
        <p:spPr>
          <a:xfrm>
            <a:off x="9985248" y="2286000"/>
            <a:ext cx="457200" cy="3474720"/>
          </a:xfrm>
          <a:prstGeom prst="roundRect">
            <a:avLst>
              <a:gd name="adj" fmla="val 10000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spine 3"/>
          <p:cNvSpPr/>
          <p:nvPr/>
        </p:nvSpPr>
        <p:spPr>
          <a:xfrm>
            <a:off x="10552176" y="1920240"/>
            <a:ext cx="457200" cy="3840480"/>
          </a:xfrm>
          <a:prstGeom prst="roundRect">
            <a:avLst>
              <a:gd name="adj" fmla="val 10000"/>
            </a:avLst>
          </a:prstGeom>
          <a:solidFill>
            <a:srgbClr val="B4532F"/>
          </a:solidFill>
          <a:ln w="12700">
            <a:solidFill>
              <a:srgbClr val="B4532F"/>
            </a:solidFill>
            <a:prstDash val="solid"/>
          </a:ln>
        </p:spPr>
      </p:sp>
      <p:sp>
        <p:nvSpPr>
          <p:cNvPr id="7" name="spine 4"/>
          <p:cNvSpPr/>
          <p:nvPr/>
        </p:nvSpPr>
        <p:spPr>
          <a:xfrm>
            <a:off x="11119104" y="2651760"/>
            <a:ext cx="457200" cy="3108960"/>
          </a:xfrm>
          <a:prstGeom prst="roundRect">
            <a:avLst>
              <a:gd name="adj" fmla="val 10000"/>
            </a:avLst>
          </a:prstGeom>
          <a:solidFill>
            <a:srgbClr val="2A8A5C"/>
          </a:solidFill>
          <a:ln w="12700">
            <a:solidFill>
              <a:srgbClr val="2A8A5C"/>
            </a:solidFill>
            <a:prstDash val="solid"/>
          </a:ln>
        </p:spPr>
      </p:sp>
      <p:sp>
        <p:nvSpPr>
          <p:cNvPr id="8" name="shelf"/>
          <p:cNvSpPr/>
          <p:nvPr/>
        </p:nvSpPr>
        <p:spPr>
          <a:xfrm>
            <a:off x="9235440" y="5760720"/>
            <a:ext cx="2514600" cy="109728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real domain with real rules, not a CRUD demo</a:t>
            </a:r>
            <a:endParaRPr lang="en-US" sz="3400" dirty="0"/>
          </a:p>
        </p:txBody>
      </p:sp>
      <p:sp>
        <p:nvSpPr>
          <p:cNvPr id="3" name="rule 1 icon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ule 1 icon label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ule 1 title"/>
          <p:cNvSpPr txBox="1"/>
          <p:nvPr/>
        </p:nvSpPr>
        <p:spPr>
          <a:xfrm>
            <a:off x="12344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Tiered lending</a:t>
            </a:r>
            <a:endParaRPr lang="en-US" sz="2000" dirty="0"/>
          </a:p>
        </p:txBody>
      </p:sp>
      <p:sp>
        <p:nvSpPr>
          <p:cNvPr id="6" name="rule 1 text"/>
          <p:cNvSpPr txBox="1"/>
          <p:nvPr/>
        </p:nvSpPr>
        <p:spPr>
          <a:xfrm>
            <a:off x="1234440" y="185623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54B"/>
                </a:solidFill>
              </a:rPr>
              <a:t>Students 14 days × 5 books, faculty 28 × 10, public 14 × 3; renewal limits per tier</a:t>
            </a:r>
            <a:endParaRPr lang="en-US" sz="1500" dirty="0"/>
          </a:p>
        </p:txBody>
      </p:sp>
      <p:sp>
        <p:nvSpPr>
          <p:cNvPr id="7" name="rule 2 icon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rule 2 icon label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rule 2 title"/>
          <p:cNvSpPr txBox="1"/>
          <p:nvPr/>
        </p:nvSpPr>
        <p:spPr>
          <a:xfrm>
            <a:off x="123444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Fines</a:t>
            </a:r>
            <a:endParaRPr lang="en-US" sz="2000" dirty="0"/>
          </a:p>
        </p:txBody>
      </p:sp>
      <p:sp>
        <p:nvSpPr>
          <p:cNvPr id="10" name="rule 2 text"/>
          <p:cNvSpPr txBox="1"/>
          <p:nvPr/>
        </p:nvSpPr>
        <p:spPr>
          <a:xfrm>
            <a:off x="1234440" y="33192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54B"/>
                </a:solidFill>
              </a:rPr>
              <a:t>Grace period, per-day rate, per-loan cap; ₹150 owed blocks borrowing until settled</a:t>
            </a:r>
            <a:endParaRPr lang="en-US" sz="1500" dirty="0"/>
          </a:p>
        </p:txBody>
      </p:sp>
      <p:sp>
        <p:nvSpPr>
          <p:cNvPr id="11" name="rule 3 icon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rule 3 icon label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rule 3 title"/>
          <p:cNvSpPr txBox="1"/>
          <p:nvPr/>
        </p:nvSpPr>
        <p:spPr>
          <a:xfrm>
            <a:off x="1234440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FIFO holds queue</a:t>
            </a:r>
            <a:endParaRPr lang="en-US" sz="2000" dirty="0"/>
          </a:p>
        </p:txBody>
      </p:sp>
      <p:sp>
        <p:nvSpPr>
          <p:cNvPr id="14" name="rule 3 text"/>
          <p:cNvSpPr txBox="1"/>
          <p:nvPr/>
        </p:nvSpPr>
        <p:spPr>
          <a:xfrm>
            <a:off x="1234440" y="47823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54B"/>
                </a:solidFill>
              </a:rPr>
              <a:t>A returned copy waits 3 days for the next member, then passes on</a:t>
            </a:r>
            <a:endParaRPr lang="en-US" sz="1500" dirty="0"/>
          </a:p>
        </p:txBody>
      </p:sp>
      <p:pic>
        <p:nvPicPr>
          <p:cNvPr id="15" name="catalogue screenshot" descr="C:/Users/Aanvi/Desktop/DevOps/DevOps-project/docs/evidence/m1-app-catalo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6126480" cy="375615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6" name="rules caption"/>
          <p:cNvSpPr txBox="1"/>
          <p:nvPr/>
        </p:nvSpPr>
        <p:spPr>
          <a:xfrm>
            <a:off x="5532120" y="5257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54B"/>
                </a:solidFill>
              </a:rPr>
              <a:t>All rules are pure functions in backend/app/circulation/, tested with pinned dates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commit travels the same automated path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713232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tep 1 title"/>
          <p:cNvSpPr txBox="1"/>
          <p:nvPr/>
        </p:nvSpPr>
        <p:spPr>
          <a:xfrm>
            <a:off x="713232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 push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713232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main or a PR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 rot="5400000">
            <a:off x="2249424" y="2697480"/>
            <a:ext cx="128016" cy="182880"/>
          </a:xfrm>
          <a:prstGeom prst="rtTriangle">
            <a:avLst/>
          </a:prstGeom>
          <a:solidFill>
            <a:srgbClr val="B9B2A3"/>
          </a:solidFill>
          <a:ln w="12700">
            <a:solidFill>
              <a:srgbClr val="B9B2A3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414016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2578608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tep 2 title"/>
          <p:cNvSpPr txBox="1"/>
          <p:nvPr/>
        </p:nvSpPr>
        <p:spPr>
          <a:xfrm>
            <a:off x="2578608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gates</a:t>
            </a:r>
            <a:endParaRPr lang="en-US" sz="1600" dirty="0"/>
          </a:p>
        </p:txBody>
      </p:sp>
      <p:sp>
        <p:nvSpPr>
          <p:cNvPr id="11" name="step 2 text"/>
          <p:cNvSpPr txBox="1"/>
          <p:nvPr/>
        </p:nvSpPr>
        <p:spPr>
          <a:xfrm>
            <a:off x="2578608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ruff · 111 tests · build · helm · terraform · gitleaks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 rot="5400000">
            <a:off x="4114800" y="2697480"/>
            <a:ext cx="128016" cy="182880"/>
          </a:xfrm>
          <a:prstGeom prst="rtTriangle">
            <a:avLst/>
          </a:prstGeom>
          <a:solidFill>
            <a:srgbClr val="B9B2A3"/>
          </a:solidFill>
          <a:ln w="12700">
            <a:solidFill>
              <a:srgbClr val="B9B2A3"/>
            </a:solidFill>
            <a:prstDash val="solid"/>
          </a:ln>
        </p:spPr>
      </p:sp>
      <p:sp>
        <p:nvSpPr>
          <p:cNvPr id="13" name="step 3"/>
          <p:cNvSpPr/>
          <p:nvPr/>
        </p:nvSpPr>
        <p:spPr>
          <a:xfrm>
            <a:off x="4279392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443984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 3 title"/>
          <p:cNvSpPr txBox="1"/>
          <p:nvPr/>
        </p:nvSpPr>
        <p:spPr>
          <a:xfrm>
            <a:off x="4443984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Trivy gate</a:t>
            </a:r>
            <a:endParaRPr lang="en-US" sz="1600" dirty="0"/>
          </a:p>
        </p:txBody>
      </p:sp>
      <p:sp>
        <p:nvSpPr>
          <p:cNvPr id="16" name="step 3 text"/>
          <p:cNvSpPr txBox="1"/>
          <p:nvPr/>
        </p:nvSpPr>
        <p:spPr>
          <a:xfrm>
            <a:off x="4443984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0 HIGH / CRITICAL or nothing ships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 rot="5400000">
            <a:off x="5980176" y="2697480"/>
            <a:ext cx="128016" cy="182880"/>
          </a:xfrm>
          <a:prstGeom prst="rtTriangle">
            <a:avLst/>
          </a:prstGeom>
          <a:solidFill>
            <a:srgbClr val="B9B2A3"/>
          </a:solidFill>
          <a:ln w="12700">
            <a:solidFill>
              <a:srgbClr val="B9B2A3"/>
            </a:solidFill>
            <a:prstDash val="solid"/>
          </a:ln>
        </p:spPr>
      </p:sp>
      <p:sp>
        <p:nvSpPr>
          <p:cNvPr id="18" name="step 4"/>
          <p:cNvSpPr/>
          <p:nvPr/>
        </p:nvSpPr>
        <p:spPr>
          <a:xfrm>
            <a:off x="6144768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6309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step 4 title"/>
          <p:cNvSpPr txBox="1"/>
          <p:nvPr/>
        </p:nvSpPr>
        <p:spPr>
          <a:xfrm>
            <a:off x="6309360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GHCR</a:t>
            </a:r>
            <a:endParaRPr lang="en-US" sz="1600" dirty="0"/>
          </a:p>
        </p:txBody>
      </p:sp>
      <p:sp>
        <p:nvSpPr>
          <p:cNvPr id="21" name="step 4 text"/>
          <p:cNvSpPr txBox="1"/>
          <p:nvPr/>
        </p:nvSpPr>
        <p:spPr>
          <a:xfrm>
            <a:off x="6309360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sha-&lt;commit&gt; tags, SBOM, provenance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 rot="5400000">
            <a:off x="7845552" y="2697480"/>
            <a:ext cx="128016" cy="182880"/>
          </a:xfrm>
          <a:prstGeom prst="rtTriangle">
            <a:avLst/>
          </a:prstGeom>
          <a:solidFill>
            <a:srgbClr val="B9B2A3"/>
          </a:solidFill>
          <a:ln w="12700">
            <a:solidFill>
              <a:srgbClr val="B9B2A3"/>
            </a:solidFill>
            <a:prstDash val="solid"/>
          </a:ln>
        </p:spPr>
      </p:sp>
      <p:sp>
        <p:nvSpPr>
          <p:cNvPr id="23" name="step 5"/>
          <p:cNvSpPr/>
          <p:nvPr/>
        </p:nvSpPr>
        <p:spPr>
          <a:xfrm>
            <a:off x="8010144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5 number"/>
          <p:cNvSpPr txBox="1"/>
          <p:nvPr/>
        </p:nvSpPr>
        <p:spPr>
          <a:xfrm>
            <a:off x="8174736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step 5 title"/>
          <p:cNvSpPr txBox="1"/>
          <p:nvPr/>
        </p:nvSpPr>
        <p:spPr>
          <a:xfrm>
            <a:off x="8174736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 Updater</a:t>
            </a:r>
            <a:endParaRPr lang="en-US" sz="1600" dirty="0"/>
          </a:p>
        </p:txBody>
      </p:sp>
      <p:sp>
        <p:nvSpPr>
          <p:cNvPr id="26" name="step 5 text"/>
          <p:cNvSpPr txBox="1"/>
          <p:nvPr/>
        </p:nvSpPr>
        <p:spPr>
          <a:xfrm>
            <a:off x="8174736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sees the new tag in ~1 min</a:t>
            </a:r>
            <a:endParaRPr lang="en-US" sz="1200" dirty="0"/>
          </a:p>
        </p:txBody>
      </p:sp>
      <p:sp>
        <p:nvSpPr>
          <p:cNvPr id="27" name="arrow 5"/>
          <p:cNvSpPr/>
          <p:nvPr/>
        </p:nvSpPr>
        <p:spPr>
          <a:xfrm rot="5400000">
            <a:off x="9710928" y="2697480"/>
            <a:ext cx="128016" cy="182880"/>
          </a:xfrm>
          <a:prstGeom prst="rtTriangle">
            <a:avLst/>
          </a:prstGeom>
          <a:solidFill>
            <a:srgbClr val="B9B2A3"/>
          </a:solidFill>
          <a:ln w="12700">
            <a:solidFill>
              <a:srgbClr val="B9B2A3"/>
            </a:solidFill>
            <a:prstDash val="solid"/>
          </a:ln>
        </p:spPr>
      </p:sp>
      <p:sp>
        <p:nvSpPr>
          <p:cNvPr id="28" name="step 6"/>
          <p:cNvSpPr/>
          <p:nvPr/>
        </p:nvSpPr>
        <p:spPr>
          <a:xfrm>
            <a:off x="9875520" y="1828800"/>
            <a:ext cx="1664208" cy="1920240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ep 6 number"/>
          <p:cNvSpPr txBox="1"/>
          <p:nvPr/>
        </p:nvSpPr>
        <p:spPr>
          <a:xfrm>
            <a:off x="10040112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step 6 title"/>
          <p:cNvSpPr txBox="1"/>
          <p:nvPr/>
        </p:nvSpPr>
        <p:spPr>
          <a:xfrm>
            <a:off x="10040112" y="2468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Argo CD</a:t>
            </a:r>
            <a:endParaRPr lang="en-US" sz="1600" dirty="0"/>
          </a:p>
        </p:txBody>
      </p:sp>
      <p:sp>
        <p:nvSpPr>
          <p:cNvPr id="31" name="step 6 text"/>
          <p:cNvSpPr txBox="1"/>
          <p:nvPr/>
        </p:nvSpPr>
        <p:spPr>
          <a:xfrm>
            <a:off x="10040112" y="28803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rolling update, zero downtime</a:t>
            </a:r>
            <a:endParaRPr lang="en-US" sz="1200" dirty="0"/>
          </a:p>
        </p:txBody>
      </p:sp>
      <p:sp>
        <p:nvSpPr>
          <p:cNvPr id="32" name="gitops note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bot commits: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Image Updater writes the tag to the Argo CD Application, not to Git, so every one of the 50+ commits is mine.</a:t>
            </a:r>
            <a:endParaRPr lang="en-US" sz="1600" dirty="0"/>
          </a:p>
        </p:txBody>
      </p:sp>
      <p:sp>
        <p:nvSpPr>
          <p:cNvPr id="33" name="gate note"/>
          <p:cNvSpPr txBox="1"/>
          <p:nvPr/>
        </p:nvSpPr>
        <p:spPr>
          <a:xfrm>
            <a:off x="548640" y="4709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in PR #1: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first commit added tests for a new rule; CI failed and skipped every image job; the second commit made it green.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Quality and security, measured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value"/>
          <p:cNvSpPr txBox="1"/>
          <p:nvPr/>
        </p:nvSpPr>
        <p:spPr>
          <a:xfrm>
            <a:off x="777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5400" dirty="0"/>
          </a:p>
        </p:txBody>
      </p:sp>
      <p:sp>
        <p:nvSpPr>
          <p:cNvPr id="5" name="stat 1 label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 passing</a:t>
            </a:r>
            <a:endParaRPr lang="en-US" sz="1600" dirty="0"/>
          </a:p>
        </p:txBody>
      </p:sp>
      <p:sp>
        <p:nvSpPr>
          <p:cNvPr id="6" name="stat 1 detail"/>
          <p:cNvSpPr txBox="1"/>
          <p:nvPr/>
        </p:nvSpPr>
        <p:spPr>
          <a:xfrm>
            <a:off x="77724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98% coverage, isolated SQLite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3337560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 value"/>
          <p:cNvSpPr txBox="1"/>
          <p:nvPr/>
        </p:nvSpPr>
        <p:spPr>
          <a:xfrm>
            <a:off x="356616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stat 2 label"/>
          <p:cNvSpPr txBox="1"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/ CRITICAL CVEs</a:t>
            </a:r>
            <a:endParaRPr lang="en-US" sz="1600" dirty="0"/>
          </a:p>
        </p:txBody>
      </p:sp>
      <p:sp>
        <p:nvSpPr>
          <p:cNvPr id="10" name="stat 2 detail"/>
          <p:cNvSpPr txBox="1"/>
          <p:nvPr/>
        </p:nvSpPr>
        <p:spPr>
          <a:xfrm>
            <a:off x="356616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Trivy on all three images</a:t>
            </a:r>
            <a:endParaRPr lang="en-US" sz="1200" dirty="0"/>
          </a:p>
        </p:txBody>
      </p:sp>
      <p:sp>
        <p:nvSpPr>
          <p:cNvPr id="11" name="stat 3"/>
          <p:cNvSpPr/>
          <p:nvPr/>
        </p:nvSpPr>
        <p:spPr>
          <a:xfrm>
            <a:off x="6126480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3 value"/>
          <p:cNvSpPr txBox="1"/>
          <p:nvPr/>
        </p:nvSpPr>
        <p:spPr>
          <a:xfrm>
            <a:off x="635508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stat 3 label"/>
          <p:cNvSpPr txBox="1"/>
          <p:nvPr/>
        </p:nvSpPr>
        <p:spPr>
          <a:xfrm>
            <a:off x="63550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pipeline jobs</a:t>
            </a:r>
            <a:endParaRPr lang="en-US" sz="1600" dirty="0"/>
          </a:p>
        </p:txBody>
      </p:sp>
      <p:sp>
        <p:nvSpPr>
          <p:cNvPr id="14" name="stat 3 detail"/>
          <p:cNvSpPr txBox="1"/>
          <p:nvPr/>
        </p:nvSpPr>
        <p:spPr>
          <a:xfrm>
            <a:off x="635508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lint, test, build, helm, tf, secrets, images</a:t>
            </a:r>
            <a:endParaRPr lang="en-US" sz="1200" dirty="0"/>
          </a:p>
        </p:txBody>
      </p:sp>
      <p:sp>
        <p:nvSpPr>
          <p:cNvPr id="15" name="stat 4"/>
          <p:cNvSpPr/>
          <p:nvPr/>
        </p:nvSpPr>
        <p:spPr>
          <a:xfrm>
            <a:off x="8915400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4 value"/>
          <p:cNvSpPr txBox="1"/>
          <p:nvPr/>
        </p:nvSpPr>
        <p:spPr>
          <a:xfrm>
            <a:off x="914400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10001</a:t>
            </a:r>
            <a:endParaRPr lang="en-US" sz="5400" dirty="0"/>
          </a:p>
        </p:txBody>
      </p:sp>
      <p:sp>
        <p:nvSpPr>
          <p:cNvPr id="17" name="stat 4 label"/>
          <p:cNvSpPr txBox="1"/>
          <p:nvPr/>
        </p:nvSpPr>
        <p:spPr>
          <a:xfrm>
            <a:off x="91440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non-root UID</a:t>
            </a:r>
            <a:endParaRPr lang="en-US" sz="1600" dirty="0"/>
          </a:p>
        </p:txBody>
      </p:sp>
      <p:sp>
        <p:nvSpPr>
          <p:cNvPr id="18" name="stat 4 detail"/>
          <p:cNvSpPr txBox="1"/>
          <p:nvPr/>
        </p:nvSpPr>
        <p:spPr>
          <a:xfrm>
            <a:off x="914400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read-only root, all caps dropped</a:t>
            </a:r>
            <a:endParaRPr lang="en-US" sz="1200" dirty="0"/>
          </a:p>
        </p:txBody>
      </p:sp>
      <p:pic>
        <p:nvPicPr>
          <p:cNvPr id="19" name="trivy screenshot" descr="C:/Users/Aanvi/Desktop/DevOps/DevOps-project/docs/evidence/m6-trivy-pipeline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94760"/>
            <a:ext cx="3749040" cy="234620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0" name="trivy explanation"/>
          <p:cNvSpPr txBox="1"/>
          <p:nvPr/>
        </p:nvSpPr>
        <p:spPr>
          <a:xfrm>
            <a:off x="4663440" y="38404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Trivy checks: Alpine OS packages and every Python library in the image, plus secrets in the layers. Clean because runtime images are minimal (multi-stage, no pip, no Node). Re-scanned on every commit; Dependabot proposes updates weekly.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Kubernetes, packaged with Helm, delivered by Argo CD</a:t>
            </a:r>
            <a:endParaRPr lang="en-US" sz="3400" dirty="0"/>
          </a:p>
        </p:txBody>
      </p:sp>
      <p:pic>
        <p:nvPicPr>
          <p:cNvPr id="3" name="argo cd screenshot" descr="C:/Users/Aanvi/Desktop/DevOps/DevOps-project/docs/evidence/m10-argocd-app-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0009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k8s 1 title"/>
          <p:cNvSpPr txBox="1"/>
          <p:nvPr/>
        </p:nvSpPr>
        <p:spPr>
          <a:xfrm>
            <a:off x="694944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Helm chart</a:t>
            </a:r>
            <a:endParaRPr lang="en-US" sz="1800" dirty="0"/>
          </a:p>
        </p:txBody>
      </p:sp>
      <p:sp>
        <p:nvSpPr>
          <p:cNvPr id="5" name="k8s 1 text"/>
          <p:cNvSpPr txBox="1"/>
          <p:nvPr/>
        </p:nvSpPr>
        <p:spPr>
          <a:xfrm>
            <a:off x="6949440" y="18013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Deployments, StatefulSet + PVC, ClusterIP Services, Ingress (/ and /api), PDB, NetworkPolicy, helm test</a:t>
            </a:r>
            <a:endParaRPr lang="en-US" sz="1500" dirty="0"/>
          </a:p>
        </p:txBody>
      </p:sp>
      <p:sp>
        <p:nvSpPr>
          <p:cNvPr id="6" name="k8s 2 title"/>
          <p:cNvSpPr txBox="1"/>
          <p:nvPr/>
        </p:nvSpPr>
        <p:spPr>
          <a:xfrm>
            <a:off x="694944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Autoscaling</a:t>
            </a:r>
            <a:endParaRPr lang="en-US" sz="1800" dirty="0"/>
          </a:p>
        </p:txBody>
      </p:sp>
      <p:sp>
        <p:nvSpPr>
          <p:cNvPr id="7" name="k8s 2 text"/>
          <p:cNvSpPr txBox="1"/>
          <p:nvPr/>
        </p:nvSpPr>
        <p:spPr>
          <a:xfrm>
            <a:off x="6949440" y="31729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HPA on CPU scaled the backend 2 → 6 pods under a k6 load test</a:t>
            </a:r>
            <a:endParaRPr lang="en-US" sz="1500" dirty="0"/>
          </a:p>
        </p:txBody>
      </p:sp>
      <p:sp>
        <p:nvSpPr>
          <p:cNvPr id="8" name="k8s 3 title"/>
          <p:cNvSpPr txBox="1"/>
          <p:nvPr/>
        </p:nvSpPr>
        <p:spPr>
          <a:xfrm>
            <a:off x="69494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Hardened</a:t>
            </a:r>
            <a:endParaRPr lang="en-US" sz="1800" dirty="0"/>
          </a:p>
        </p:txBody>
      </p:sp>
      <p:sp>
        <p:nvSpPr>
          <p:cNvPr id="9" name="k8s 3 text"/>
          <p:cNvSpPr txBox="1"/>
          <p:nvPr/>
        </p:nvSpPr>
        <p:spPr>
          <a:xfrm>
            <a:off x="6949440" y="45445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Restricted Pod Security on the namespace; probes split into startup, liveness and readiness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AWS with Terraform, priced for a student</a:t>
            </a:r>
            <a:endParaRPr lang="en-US" sz="3400" dirty="0"/>
          </a:p>
        </p:txBody>
      </p:sp>
      <p:sp>
        <p:nvSpPr>
          <p:cNvPr id="3" name="vpc box"/>
          <p:cNvSpPr/>
          <p:nvPr/>
        </p:nvSpPr>
        <p:spPr>
          <a:xfrm>
            <a:off x="548640" y="1417320"/>
            <a:ext cx="6035040" cy="4023360"/>
          </a:xfrm>
          <a:prstGeom prst="roundRect">
            <a:avLst>
              <a:gd name="adj" fmla="val 2727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vpc label"/>
          <p:cNvSpPr txBox="1"/>
          <p:nvPr/>
        </p:nvSpPr>
        <p:spPr>
          <a:xfrm>
            <a:off x="7772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VPC 10.42.0.0/16 · ap-southeast-2 (Sydney)</a:t>
            </a:r>
            <a:endParaRPr lang="en-US" sz="1400" dirty="0"/>
          </a:p>
        </p:txBody>
      </p:sp>
      <p:sp>
        <p:nvSpPr>
          <p:cNvPr id="5" name="subnet 1"/>
          <p:cNvSpPr/>
          <p:nvPr/>
        </p:nvSpPr>
        <p:spPr>
          <a:xfrm>
            <a:off x="82296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ubnet 1 label"/>
          <p:cNvSpPr txBox="1"/>
          <p:nvPr/>
        </p:nvSpPr>
        <p:spPr>
          <a:xfrm>
            <a:off x="100584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ap-southeast-2a · 10.42.0.0/20</a:t>
            </a:r>
            <a:endParaRPr lang="en-US" sz="1400" dirty="0"/>
          </a:p>
        </p:txBody>
      </p:sp>
      <p:sp>
        <p:nvSpPr>
          <p:cNvPr id="7" name="node 1"/>
          <p:cNvSpPr/>
          <p:nvPr/>
        </p:nvSpPr>
        <p:spPr>
          <a:xfrm>
            <a:off x="1005840" y="301752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E3EFE7"/>
          </a:solidFill>
          <a:ln w="12700">
            <a:solidFill>
              <a:srgbClr val="E3EFE7"/>
            </a:solidFill>
            <a:prstDash val="solid"/>
          </a:ln>
        </p:spPr>
      </p:sp>
      <p:sp>
        <p:nvSpPr>
          <p:cNvPr id="8" name="node 1 label"/>
          <p:cNvSpPr txBox="1"/>
          <p:nvPr/>
        </p:nvSpPr>
        <p:spPr>
          <a:xfrm>
            <a:off x="109728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EKS node · m7i-flex.large</a:t>
            </a:r>
            <a:endParaRPr lang="en-US" sz="1300" dirty="0"/>
          </a:p>
        </p:txBody>
      </p:sp>
      <p:sp>
        <p:nvSpPr>
          <p:cNvPr id="9" name="subnet 2"/>
          <p:cNvSpPr/>
          <p:nvPr/>
        </p:nvSpPr>
        <p:spPr>
          <a:xfrm>
            <a:off x="3657600" y="210312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ubnet 2 label"/>
          <p:cNvSpPr txBox="1"/>
          <p:nvPr/>
        </p:nvSpPr>
        <p:spPr>
          <a:xfrm>
            <a:off x="384048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554B"/>
                </a:solidFill>
              </a:rPr>
              <a:t>ap-southeast-2b · 10.42.16.0/20</a:t>
            </a:r>
            <a:endParaRPr lang="en-US" sz="1400" dirty="0"/>
          </a:p>
        </p:txBody>
      </p:sp>
      <p:sp>
        <p:nvSpPr>
          <p:cNvPr id="11" name="node 2"/>
          <p:cNvSpPr/>
          <p:nvPr/>
        </p:nvSpPr>
        <p:spPr>
          <a:xfrm>
            <a:off x="3840480" y="301752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E3EFE7"/>
          </a:solidFill>
          <a:ln w="12700">
            <a:solidFill>
              <a:srgbClr val="E3EFE7"/>
            </a:solidFill>
            <a:prstDash val="solid"/>
          </a:ln>
        </p:spPr>
      </p:sp>
      <p:sp>
        <p:nvSpPr>
          <p:cNvPr id="12" name="node 2 label"/>
          <p:cNvSpPr txBox="1"/>
          <p:nvPr/>
        </p:nvSpPr>
        <p:spPr>
          <a:xfrm>
            <a:off x="393192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EKS node · m7i-flex.large</a:t>
            </a:r>
            <a:endParaRPr lang="en-US" sz="1300" dirty="0"/>
          </a:p>
        </p:txBody>
      </p:sp>
      <p:sp>
        <p:nvSpPr>
          <p:cNvPr id="13" name="eks label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EKS 1.35 control plane · access entries · Pod Identity for EBS</a:t>
            </a:r>
            <a:endParaRPr lang="en-US" sz="1300" dirty="0"/>
          </a:p>
        </p:txBody>
      </p:sp>
      <p:sp>
        <p:nvSpPr>
          <p:cNvPr id="14" name="igw label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Internet gateway · budget alert · every resource tagged Project=shelfwise</a:t>
            </a:r>
            <a:endParaRPr lang="en-US" sz="1300" dirty="0"/>
          </a:p>
        </p:txBody>
      </p:sp>
      <p:sp>
        <p:nvSpPr>
          <p:cNvPr id="15" name="cost value"/>
          <p:cNvSpPr txBox="1"/>
          <p:nvPr/>
        </p:nvSpPr>
        <p:spPr>
          <a:xfrm>
            <a:off x="704088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$0.40</a:t>
            </a:r>
            <a:endParaRPr lang="en-US" sz="5400" dirty="0"/>
          </a:p>
        </p:txBody>
      </p:sp>
      <p:sp>
        <p:nvSpPr>
          <p:cNvPr id="16" name="cost label"/>
          <p:cNvSpPr txBox="1"/>
          <p:nvPr/>
        </p:nvSpPr>
        <p:spPr>
          <a:xfrm>
            <a:off x="70408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 hour, paid from AWS credits ($0.50 in total)</a:t>
            </a:r>
            <a:endParaRPr lang="en-US" sz="1600" dirty="0"/>
          </a:p>
        </p:txBody>
      </p:sp>
      <p:sp>
        <p:nvSpPr>
          <p:cNvPr id="17" name="cost reasons"/>
          <p:cNvSpPr txBox="1"/>
          <p:nvPr/>
        </p:nvSpPr>
        <p:spPr>
          <a:xfrm>
            <a:off x="7040880" y="29718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NAT gateway: saves ~$1.40/day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 plan: Sydney, On-Demand, Free Tier nodes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Pinned to standard support (extended is 6×)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Hand-written resources, no modules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eks-down.ps1 removes LB + volume, then destroy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Observability: the library's health on one screen</a:t>
            </a:r>
            <a:endParaRPr lang="en-US" sz="3400" dirty="0"/>
          </a:p>
        </p:txBody>
      </p:sp>
      <p:pic>
        <p:nvPicPr>
          <p:cNvPr id="3" name="grafana screenshot" descr="C:/Users/Aanvi/Desktop/DevOps/DevOps-project/docs/evidence/m9-grafana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03646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observability text"/>
          <p:cNvSpPr txBox="1"/>
          <p:nvPr/>
        </p:nvSpPr>
        <p:spPr>
          <a:xfrm>
            <a:off x="7452360" y="141732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 metrics per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Requests, p50/p95/p99 latency, 5xx ratio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Library metrics from Postgres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Books on loan, overdue, unpaid fines, holds waiting, refusals by reason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Five alert rules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Backend down, error rate, slow requests, HPA at max, overdue backlog; two went pending under load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demo: one commit, no manual deploy</a:t>
            </a:r>
            <a:endParaRPr lang="en-US" sz="3400" dirty="0"/>
          </a:p>
        </p:txBody>
      </p:sp>
      <p:pic>
        <p:nvPicPr>
          <p:cNvPr id="3" name="demo 1 screenshot" descr="C:/Users/Aanvi/Desktop/DevOps/DevOps-project/docs/evidence/m10-2-commit-and-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4024"/>
            <a:ext cx="3520440" cy="145601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demo 1 caption"/>
          <p:cNvSpPr txBox="1"/>
          <p:nvPr/>
        </p:nvSpPr>
        <p:spPr>
          <a:xfrm>
            <a:off x="548640" y="3794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· Commit and push a UI change</a:t>
            </a:r>
            <a:endParaRPr lang="en-US" sz="1500" dirty="0"/>
          </a:p>
        </p:txBody>
      </p:sp>
      <p:pic>
        <p:nvPicPr>
          <p:cNvPr id="5" name="demo 2 screenshot" descr="C:/Users/Aanvi/Desktop/DevOps/DevOps-project/docs/evidence/m10-4-pipeline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2838"/>
            <a:ext cx="3520440" cy="21583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demo 2 caption"/>
          <p:cNvSpPr txBox="1"/>
          <p:nvPr/>
        </p:nvSpPr>
        <p:spPr>
          <a:xfrm>
            <a:off x="4297680" y="3794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· Pipeline: test, build, scan, publish</a:t>
            </a:r>
            <a:endParaRPr lang="en-US" sz="1500" dirty="0"/>
          </a:p>
        </p:txBody>
      </p:sp>
      <p:pic>
        <p:nvPicPr>
          <p:cNvPr id="7" name="demo 3 screenshot" descr="C:/Users/Aanvi/Desktop/DevOps/DevOps-project/docs/evidence/m10-6-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2838"/>
            <a:ext cx="3520440" cy="21583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demo 3 caption"/>
          <p:cNvSpPr txBox="1"/>
          <p:nvPr/>
        </p:nvSpPr>
        <p:spPr>
          <a:xfrm>
            <a:off x="8046720" y="3794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· Argo CD rolls out; the page updates</a:t>
            </a:r>
            <a:endParaRPr lang="en-US" sz="1500" dirty="0"/>
          </a:p>
        </p:txBody>
      </p:sp>
      <p:sp>
        <p:nvSpPr>
          <p:cNvPr id="9" name="demo summary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five minutes from git push to the new version serving traffic. The sidebar and the X-Shelfwise-Version header name the running commit, so every pod traces back to its source.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2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What I would do next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8E2D2"/>
                </a:solidFill>
              </a:rPr>
              <a:t>Move Postgres to Amazon RDS for backups and failover</a:t>
            </a:r>
            <a:endParaRPr lang="en-US" sz="2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8E2D2"/>
                </a:solidFill>
              </a:rPr>
              <a:t>Replace ingress-nginx with the Gateway API</a:t>
            </a:r>
            <a:endParaRPr lang="en-US" sz="2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E8E2D2"/>
                </a:solidFill>
              </a:rPr>
              <a:t>Add staff login (OIDC) in front of the Ingress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1AE"/>
                </a:solidFill>
              </a:rPr>
              <a:t>Troubleshooting runbook: troubleshooting/RUNBOOK.md · Evidence: docs/SUBMISSION.md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lfwise Library">
  <a:themeElements>
    <a:clrScheme name="Shelfwise Library">
      <a:dk1>
        <a:srgbClr val="2A2620"/>
      </a:dk1>
      <a:lt1>
        <a:srgbClr val="FFFFFF"/>
      </a:lt1>
      <a:dk2>
        <a:srgbClr val="1F4D3A"/>
      </a:dk2>
      <a:lt2>
        <a:srgbClr val="F4F1EA"/>
      </a:lt2>
      <a:accent1>
        <a:srgbClr val="1F4D3A"/>
      </a:accent1>
      <a:accent2>
        <a:srgbClr val="B98A2E"/>
      </a:accent2>
      <a:accent3>
        <a:srgbClr val="B4532F"/>
      </a:accent3>
      <a:accent4>
        <a:srgbClr val="2A8A5C"/>
      </a:accent4>
      <a:accent5>
        <a:srgbClr val="5B6B63"/>
      </a:accent5>
      <a:accent6>
        <a:srgbClr val="E3EFE7"/>
      </a:accent6>
      <a:hlink>
        <a:srgbClr val="1F4D3A"/>
      </a:hlink>
      <a:folHlink>
        <a:srgbClr val="B98A2E"/>
      </a:folHlink>
    </a:clrScheme>
    <a:fontScheme name="Shelfwise Libr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Shelfwise: a library platform shipped like production</dc:title>
  <dc:subject>PptxGenJS Presentation</dc:subject>
  <dc:creator>Aanvi Solanki</dc:creator>
  <cp:lastModifiedBy>Aanvi Solanki</cp:lastModifiedBy>
  <cp:revision>1</cp:revision>
  <dcterms:created xsi:type="dcterms:W3CDTF">2026-10-16T13:22:42Z</dcterms:created>
  <dcterms:modified xsi:type="dcterms:W3CDTF">2026-10-16T13:22:42Z</dcterms:modified>
</cp:coreProperties>
</file>